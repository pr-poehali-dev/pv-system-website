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8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242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70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9AD4E8"/>
                </a:solidFill>
                <a:latin typeface="Arial"/>
              </a:rPr>
              <a:t>РОССИЙСКОЕ НАСТОЛЬНОЕ ПО · WINDOWS 10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spc="160">
                <a:solidFill>
                  <a:srgbClr val="F7F5EF"/>
                </a:solidFill>
                <a:latin typeface="Arial"/>
              </a:rPr>
              <a:t>ПВ-СИСТЕМА PDF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292608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7680960" cy="12010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dirty="0" err="1">
                <a:solidFill>
                  <a:srgbClr val="D8D5CC"/>
                </a:solidFill>
                <a:latin typeface="Arial"/>
              </a:rPr>
              <a:t>Просмотр</a:t>
            </a:r>
            <a:r>
              <a:rPr lang="ru-RU" sz="2000" b="0" dirty="0">
                <a:solidFill>
                  <a:srgbClr val="D8D5CC"/>
                </a:solidFill>
                <a:latin typeface="Arial"/>
              </a:rPr>
              <a:t>, сканирование</a:t>
            </a:r>
            <a:r>
              <a:rPr sz="2000" b="0" dirty="0">
                <a:solidFill>
                  <a:srgbClr val="D8D5CC"/>
                </a:solidFill>
                <a:latin typeface="Arial"/>
              </a:rPr>
              <a:t>, редактирование и </a:t>
            </a:r>
            <a:r>
              <a:rPr sz="2000" b="0" dirty="0" err="1">
                <a:solidFill>
                  <a:srgbClr val="D8D5CC"/>
                </a:solidFill>
                <a:latin typeface="Arial"/>
              </a:rPr>
              <a:t>конвертация</a:t>
            </a:r>
            <a:r>
              <a:rPr sz="2000" b="0" dirty="0">
                <a:solidFill>
                  <a:srgbClr val="D8D5C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D8D5CC"/>
                </a:solidFill>
                <a:latin typeface="Arial"/>
              </a:rPr>
              <a:t>документов</a:t>
            </a:r>
            <a:r>
              <a:rPr sz="2000" b="0" dirty="0">
                <a:solidFill>
                  <a:srgbClr val="D8D5CC"/>
                </a:solidFill>
                <a:latin typeface="Arial"/>
              </a:rPr>
              <a:t> PDF</a:t>
            </a:r>
          </a:p>
          <a:p>
            <a:pPr algn="l">
              <a:lnSpc>
                <a:spcPct val="135000"/>
              </a:lnSpc>
            </a:pPr>
            <a:r>
              <a:rPr sz="2000" b="0" dirty="0" err="1">
                <a:solidFill>
                  <a:srgbClr val="D8D5CC"/>
                </a:solidFill>
                <a:latin typeface="Arial"/>
              </a:rPr>
              <a:t>на</a:t>
            </a:r>
            <a:r>
              <a:rPr sz="2000" b="0" dirty="0">
                <a:solidFill>
                  <a:srgbClr val="D8D5C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D8D5CC"/>
                </a:solidFill>
                <a:latin typeface="Arial"/>
              </a:rPr>
              <a:t>рабочем</a:t>
            </a:r>
            <a:r>
              <a:rPr sz="2000" b="0" dirty="0">
                <a:solidFill>
                  <a:srgbClr val="D8D5C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D8D5CC"/>
                </a:solidFill>
                <a:latin typeface="Arial"/>
              </a:rPr>
              <a:t>месте</a:t>
            </a:r>
            <a:r>
              <a:rPr sz="2000" b="0" dirty="0">
                <a:solidFill>
                  <a:srgbClr val="D8D5CC"/>
                </a:solidFill>
                <a:latin typeface="Arial"/>
              </a:rPr>
              <a:t> — без </a:t>
            </a:r>
            <a:r>
              <a:rPr sz="2000" b="0" dirty="0" err="1">
                <a:solidFill>
                  <a:srgbClr val="D8D5CC"/>
                </a:solidFill>
                <a:latin typeface="Arial"/>
              </a:rPr>
              <a:t>передачи</a:t>
            </a:r>
            <a:r>
              <a:rPr sz="2000" b="0" dirty="0">
                <a:solidFill>
                  <a:srgbClr val="D8D5C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D8D5CC"/>
                </a:solidFill>
                <a:latin typeface="Arial"/>
              </a:rPr>
              <a:t>файлов</a:t>
            </a:r>
            <a:r>
              <a:rPr sz="2000" b="0" dirty="0">
                <a:solidFill>
                  <a:srgbClr val="D8D5CC"/>
                </a:solidFill>
                <a:latin typeface="Arial"/>
              </a:rPr>
              <a:t> в </a:t>
            </a:r>
            <a:r>
              <a:rPr sz="2000" b="0" dirty="0" err="1">
                <a:solidFill>
                  <a:srgbClr val="D8D5CC"/>
                </a:solidFill>
                <a:latin typeface="Arial"/>
              </a:rPr>
              <a:t>интернет</a:t>
            </a:r>
            <a:endParaRPr sz="2000" b="0" dirty="0">
              <a:solidFill>
                <a:srgbClr val="D8D5CC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577840"/>
            <a:ext cx="8229600" cy="225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spc="160" dirty="0">
                <a:solidFill>
                  <a:srgbClr val="606662"/>
                </a:solidFill>
                <a:latin typeface="Arial"/>
              </a:rPr>
              <a:t>ПВСИСТЕМА.РФ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ПРЕЗЕНТАЦИЯ ПРОДУКТА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1215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spc="160" dirty="0">
                <a:solidFill>
                  <a:srgbClr val="14181C"/>
                </a:solidFill>
                <a:latin typeface="Arial"/>
              </a:rPr>
              <a:t>ДОКУМЕНТЫ</a:t>
            </a:r>
            <a:r>
              <a:rPr lang="ru-RU" sz="4000" b="1" spc="160" dirty="0">
                <a:solidFill>
                  <a:srgbClr val="14181C"/>
                </a:solidFill>
                <a:latin typeface="Arial"/>
              </a:rPr>
              <a:t> </a:t>
            </a:r>
            <a:r>
              <a:rPr sz="4000" b="1" spc="160" dirty="0">
                <a:solidFill>
                  <a:srgbClr val="14181C"/>
                </a:solidFill>
                <a:latin typeface="Arial"/>
              </a:rPr>
              <a:t>УХОДЯТ</a:t>
            </a:r>
          </a:p>
          <a:p>
            <a:pPr algn="l">
              <a:lnSpc>
                <a:spcPct val="102000"/>
              </a:lnSpc>
            </a:pPr>
            <a:r>
              <a:rPr sz="4000" b="1" spc="160" dirty="0">
                <a:solidFill>
                  <a:srgbClr val="14181C"/>
                </a:solidFill>
                <a:latin typeface="Arial"/>
              </a:rPr>
              <a:t>НА ЧУЖИЕ СЕРВЕРЫ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9748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2606040" cy="2286000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3200400"/>
            <a:ext cx="260604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3584448"/>
            <a:ext cx="209397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C"/>
                </a:solidFill>
                <a:latin typeface="Arial"/>
              </a:rPr>
              <a:t>Бесплатные онлайн-сервисы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343400"/>
            <a:ext cx="20939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dirty="0" err="1">
                <a:solidFill>
                  <a:srgbClr val="606662"/>
                </a:solidFill>
                <a:latin typeface="Arial"/>
              </a:rPr>
              <a:t>Файл</a:t>
            </a:r>
            <a:r>
              <a:rPr sz="1200" b="0" dirty="0">
                <a:solidFill>
                  <a:srgbClr val="60666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06662"/>
                </a:solidFill>
                <a:latin typeface="Arial"/>
              </a:rPr>
              <a:t>загружается</a:t>
            </a:r>
            <a:r>
              <a:rPr sz="1200" b="0" dirty="0">
                <a:solidFill>
                  <a:srgbClr val="60666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06662"/>
                </a:solidFill>
                <a:latin typeface="Arial"/>
              </a:rPr>
              <a:t>на</a:t>
            </a:r>
            <a:r>
              <a:rPr sz="1200" b="0" dirty="0">
                <a:solidFill>
                  <a:srgbClr val="60666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06662"/>
                </a:solidFill>
                <a:latin typeface="Arial"/>
              </a:rPr>
              <a:t>сторонний</a:t>
            </a:r>
            <a:r>
              <a:rPr sz="1200" b="0" dirty="0">
                <a:solidFill>
                  <a:srgbClr val="60666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06662"/>
                </a:solidFill>
                <a:latin typeface="Arial"/>
              </a:rPr>
              <a:t>сервер</a:t>
            </a:r>
            <a:r>
              <a:rPr sz="1200" b="0" dirty="0">
                <a:solidFill>
                  <a:srgbClr val="606662"/>
                </a:solidFill>
                <a:latin typeface="Arial"/>
              </a:rPr>
              <a:t> — </a:t>
            </a:r>
            <a:r>
              <a:rPr sz="1200" b="0" dirty="0" err="1">
                <a:solidFill>
                  <a:srgbClr val="606662"/>
                </a:solidFill>
                <a:latin typeface="Arial"/>
              </a:rPr>
              <a:t>контроль</a:t>
            </a:r>
            <a:r>
              <a:rPr sz="1200" b="0" dirty="0">
                <a:solidFill>
                  <a:srgbClr val="60666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06662"/>
                </a:solidFill>
                <a:latin typeface="Arial"/>
              </a:rPr>
              <a:t>над</a:t>
            </a:r>
            <a:r>
              <a:rPr sz="1200" b="0" dirty="0">
                <a:solidFill>
                  <a:srgbClr val="60666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06662"/>
                </a:solidFill>
                <a:latin typeface="Arial"/>
              </a:rPr>
              <a:t>ним</a:t>
            </a:r>
            <a:r>
              <a:rPr sz="1200" b="0" dirty="0">
                <a:solidFill>
                  <a:srgbClr val="606662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606662"/>
                </a:solidFill>
                <a:latin typeface="Arial"/>
              </a:rPr>
              <a:t>теряется</a:t>
            </a:r>
            <a:endParaRPr sz="1200" b="0" dirty="0">
              <a:solidFill>
                <a:srgbClr val="606662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30168" y="3200400"/>
            <a:ext cx="2606040" cy="2286000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30168" y="3200400"/>
            <a:ext cx="260604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3584448"/>
            <a:ext cx="209397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C"/>
                </a:solidFill>
                <a:latin typeface="Arial"/>
              </a:rPr>
              <a:t>Зарубежные подписки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4343400"/>
            <a:ext cx="20939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662"/>
                </a:solidFill>
                <a:latin typeface="Arial"/>
              </a:rPr>
              <a:t>Ежемесячная оплата в валюте, риск отключения доступа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37376" y="3200400"/>
            <a:ext cx="2606040" cy="2286000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37376" y="3200400"/>
            <a:ext cx="260604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93408" y="3584448"/>
            <a:ext cx="209397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C"/>
                </a:solidFill>
                <a:latin typeface="Arial"/>
              </a:rPr>
              <a:t>Сведения ограниченного доступа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4343400"/>
            <a:ext cx="20939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662"/>
                </a:solidFill>
                <a:latin typeface="Arial"/>
              </a:rPr>
              <a:t>Персональные данные и реквизиты не должны покидать предприятие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4584" y="3200400"/>
            <a:ext cx="2606040" cy="2286000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44584" y="3200400"/>
            <a:ext cx="260604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0616" y="3584448"/>
            <a:ext cx="2093976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C"/>
                </a:solidFill>
                <a:latin typeface="Arial"/>
              </a:rPr>
              <a:t>Разрозненные инструменты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0616" y="4343400"/>
            <a:ext cx="2093976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606662"/>
                </a:solidFill>
                <a:latin typeface="Arial"/>
              </a:rPr>
              <a:t>Отдельная программа на просмотр, на конвертацию, на распознавание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9AD4E8"/>
                </a:solidFill>
                <a:latin typeface="Arial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 spc="160">
                <a:solidFill>
                  <a:srgbClr val="F7F5EF"/>
                </a:solidFill>
                <a:latin typeface="Arial"/>
              </a:rPr>
              <a:t>ВСЁ, ЧТО НУЖНО ДЛЯ РАБОТЫ</a:t>
            </a:r>
          </a:p>
          <a:p>
            <a:pPr algn="l">
              <a:lnSpc>
                <a:spcPct val="108000"/>
              </a:lnSpc>
            </a:pPr>
            <a:r>
              <a:rPr sz="4200" b="1" spc="160">
                <a:solidFill>
                  <a:srgbClr val="F7F5EF"/>
                </a:solidFill>
                <a:latin typeface="Arial"/>
              </a:rPr>
              <a:t>С PDF — В ОДНОЙ ПРОГРАММЕ</a:t>
            </a:r>
          </a:p>
          <a:p>
            <a:pPr algn="l">
              <a:lnSpc>
                <a:spcPct val="108000"/>
              </a:lnSpc>
            </a:pPr>
            <a:r>
              <a:rPr sz="4200" b="1" spc="160">
                <a:solidFill>
                  <a:srgbClr val="F7F5EF"/>
                </a:solidFill>
                <a:latin typeface="Arial"/>
              </a:rPr>
              <a:t>НА ВАШЕМ КОМПЬЮТЕРЕ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77639"/>
            <a:ext cx="2194560" cy="381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C9C6BE"/>
                </a:solidFill>
                <a:latin typeface="Arial"/>
              </a:rPr>
              <a:t>Файлы обрабатываются локально и никуда не передаются. Интернет нужен только для проверки обновлений — программа полноценно работает и без него.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ВОЗМОЖНОСТИ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spc="160">
                <a:solidFill>
                  <a:srgbClr val="14181C"/>
                </a:solidFill>
                <a:latin typeface="Arial"/>
              </a:rPr>
              <a:t>ЧТО УМЕЕТ ПРОГРАММА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ПРОСМОТР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383280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Непрерывная прокрутка и вкладки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950208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Разворот — две страницы рядом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51713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Подгонка по ширине и по странице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508406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Панель миниатюр страниц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565099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Поиск по всему документу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51460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РЕДАКТИРОВАНИЕ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9432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99432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55464" y="3383280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Поворот, удаление, перестановка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9432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55464" y="3950208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Дублирование и вставка листов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9432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55464" y="451713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Объединение и извлечение страниц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9432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55464" y="508406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Надписи и закрашивание данных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55464" y="565099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Отмена — до 50 шагов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251460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КОНВЕРТАЦИЯ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4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75904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31936" y="3383280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В Word и Excel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75904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31936" y="3950208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В JPG, PNG и HTML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31936" y="451713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фото и сканов — в PDF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75904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31936" y="508406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В обычный текст TXT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75904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31936" y="565099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Распознавание сканов (OCR)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СКАНИРОВАНИЕ И ФАЙЛЫ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spc="160" dirty="0">
                <a:solidFill>
                  <a:srgbClr val="14181C"/>
                </a:solidFill>
                <a:latin typeface="Arial"/>
              </a:rPr>
              <a:t>ОТ БУМАГИ</a:t>
            </a:r>
          </a:p>
          <a:p>
            <a:pPr algn="l">
              <a:lnSpc>
                <a:spcPct val="102000"/>
              </a:lnSpc>
            </a:pPr>
            <a:r>
              <a:rPr sz="3600" b="1" spc="160" dirty="0">
                <a:solidFill>
                  <a:srgbClr val="14181C"/>
                </a:solidFill>
                <a:latin typeface="Arial"/>
              </a:rPr>
              <a:t>ДО ГОТОВОГО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96261"/>
            <a:ext cx="4983480" cy="45719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СКАНИРОВАНИЕ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383280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Сканирование прямо в программе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3950208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Пакетная съёмка пачки листов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51713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Повтор с теми же настройками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508406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Скан сразу в открытый документ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565099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Улучшение читаемости скана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51460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РАБОТА С ФАЙЛОМ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99432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99432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55464" y="3383280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Сжатие — три уровня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9432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55464" y="3950208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Извлечение нужных страниц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9432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55464" y="451713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Добавление чистых листов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9432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55464" y="508406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Печать с предпросмотром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99432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55464" y="565099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Копирование текста страницы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251460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spc="160">
                <a:solidFill>
                  <a:srgbClr val="14181C"/>
                </a:solidFill>
                <a:latin typeface="Arial"/>
              </a:rPr>
              <a:t>СОЗДАНИЕ PDF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75904" y="3017520"/>
            <a:ext cx="352044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75904" y="345948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31936" y="3383280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фотографий JPG и PNG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75904" y="402640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31936" y="3950208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снимков HEIC с iPhone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75904" y="4593336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31936" y="451713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текстовых файлов TXT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75904" y="516026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31936" y="508406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сканов TIFF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75904" y="572719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31936" y="565099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14181C"/>
                </a:solidFill>
                <a:latin typeface="Arial"/>
              </a:rPr>
              <a:t>Из нескольких PDF сразу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ИНТЕРФЕЙС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ПРИВЫЧНО С ПЕРВОГО</a:t>
            </a:r>
          </a:p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ЗАПУСКА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06040"/>
            <a:ext cx="182880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093720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3017520"/>
            <a:ext cx="35661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Полностью на русском языке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697224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621024"/>
            <a:ext cx="35661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Вкладки — как в браузере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300728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4224528"/>
            <a:ext cx="35661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Обучение сотрудника — меньше часа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904232"/>
            <a:ext cx="88900" cy="889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4828032"/>
            <a:ext cx="356616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Горячие клавиши как в привычных программах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307592"/>
            <a:ext cx="6035040" cy="3310128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34440"/>
            <a:ext cx="6035040" cy="326323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394960" y="1234440"/>
            <a:ext cx="6035040" cy="3264408"/>
          </a:xfrm>
          <a:prstGeom prst="rect">
            <a:avLst/>
          </a:prstGeom>
          <a:noFill/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60" y="470916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РАБОЧЕЕ ОКНО ПРОГРАММЫ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9AD4E8"/>
                </a:solidFill>
                <a:latin typeface="Arial"/>
              </a:rPr>
              <a:t>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 spc="160">
                <a:solidFill>
                  <a:srgbClr val="F7F5EF"/>
                </a:solidFill>
                <a:latin typeface="Arial"/>
              </a:rPr>
              <a:t>ДОКУМЕНТ</a:t>
            </a:r>
          </a:p>
          <a:p>
            <a:pPr algn="l">
              <a:lnSpc>
                <a:spcPct val="106000"/>
              </a:lnSpc>
            </a:pPr>
            <a:r>
              <a:rPr sz="4000" b="1" spc="160">
                <a:solidFill>
                  <a:srgbClr val="F7F5EF"/>
                </a:solidFill>
                <a:latin typeface="Arial"/>
              </a:rPr>
              <a:t>НЕ ПОКИДАЕТ ПЕРИМЕТР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2194560" cy="381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391363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Локальная обработка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526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Файл открывается и обрабатывается на компьютере пользователя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3712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53712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391363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Закрашивание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526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Персональные данные и реквизиты скрываются перед передачей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84464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77072" y="391363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Работа без интернета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526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В том числе на удалённых и подземных объектах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9AD4E8"/>
                </a:solidFill>
                <a:latin typeface="Arial"/>
              </a:rPr>
              <a:t>УПРАВЛЕНИЕ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05840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000" b="1" spc="160">
                <a:solidFill>
                  <a:srgbClr val="F7F5EF"/>
                </a:solidFill>
                <a:latin typeface="Arial"/>
              </a:rPr>
              <a:t>ПАРК РАБОЧИХ МЕСТ</a:t>
            </a:r>
          </a:p>
          <a:p>
            <a:pPr algn="l">
              <a:lnSpc>
                <a:spcPct val="106000"/>
              </a:lnSpc>
            </a:pPr>
            <a:r>
              <a:rPr sz="4000" b="1" spc="160">
                <a:solidFill>
                  <a:srgbClr val="F7F5EF"/>
                </a:solidFill>
                <a:latin typeface="Arial"/>
              </a:rPr>
              <a:t>ПОД КОНТРОЛЕМ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017520"/>
            <a:ext cx="2194560" cy="381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391363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Учёт рабочих мест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526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Видно, на каких компьютерах работает лицензия и сколько мест занято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3712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53712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391363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Обязательная версия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526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Устаревшие версии останавливаются до обновления — по решению администратора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3566160"/>
            <a:ext cx="3474720" cy="1920240"/>
          </a:xfrm>
          <a:prstGeom prst="rect">
            <a:avLst/>
          </a:prstGeom>
          <a:solidFill>
            <a:srgbClr val="1E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84464" y="3566160"/>
            <a:ext cx="50800" cy="192024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77072" y="3913632"/>
            <a:ext cx="2926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F7F5EF"/>
                </a:solidFill>
                <a:latin typeface="Arial"/>
              </a:rPr>
              <a:t>Обновление в щелчок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5262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6B3AC"/>
                </a:solidFill>
                <a:latin typeface="Arial"/>
              </a:rPr>
              <a:t>Программа ставит его сама, файлы и настройки остаются на месте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ПОЧЕМУ 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ШЕСТЬ ПРИЧИН ВЫБРАТЬ</a:t>
            </a:r>
          </a:p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ПВ-СИСТЕМУ PDF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42316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926080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31272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49300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Безопасность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895344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Обработка на рабочем месте, без передачи файлов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99432" y="2926080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55464" y="31272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55464" y="349300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Импортозамещение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3895344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Отечественное ПО без зарубежных подписок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75904" y="2926080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31936" y="31272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1936" y="3493008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Экономия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1936" y="3895344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Дешевле зарубежных аналогов с помесячной оплатой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727448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928616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29437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Простота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5696712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Русский интерфейс, обучение меньше часа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99432" y="4727448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55464" y="4928616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55464" y="529437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Автономность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5464" y="5696712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Работает без постоянного подключения к сети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75904" y="4727448"/>
            <a:ext cx="3520440" cy="1600200"/>
          </a:xfrm>
          <a:prstGeom prst="rect">
            <a:avLst/>
          </a:prstGeom>
          <a:noFill/>
          <a:ln w="12700">
            <a:solidFill>
              <a:srgbClr val="CFC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31936" y="4928616"/>
            <a:ext cx="914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C5FD9"/>
                </a:solidFill>
                <a:latin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31936" y="529437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4181C"/>
                </a:solidFill>
                <a:latin typeface="Arial"/>
              </a:rPr>
              <a:t>Развитие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1936" y="5696712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Обновления входят в стоимость лицензии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СТОИМОСТЬ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spc="160">
                <a:solidFill>
                  <a:srgbClr val="14181C"/>
                </a:solidFill>
                <a:latin typeface="Arial"/>
              </a:rPr>
              <a:t>ГОДОВАЯ ЛИЦЕНЗИЯ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6766560" cy="493776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2606040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spc="160">
                <a:solidFill>
                  <a:srgbClr val="F7F5EF"/>
                </a:solidFill>
                <a:latin typeface="Arial"/>
              </a:rPr>
              <a:t>РАБОЧИХ МЕСТ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94176" y="2606040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spc="160">
                <a:solidFill>
                  <a:srgbClr val="F7F5EF"/>
                </a:solidFill>
                <a:latin typeface="Arial"/>
              </a:rPr>
              <a:t>ЦЕНА ЗА МЕСТО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7296" y="2606040"/>
            <a:ext cx="17556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spc="160">
                <a:solidFill>
                  <a:srgbClr val="F7F5EF"/>
                </a:solidFill>
                <a:latin typeface="Arial"/>
              </a:rPr>
              <a:t>СТОИМОСТЬ В ГОД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3099816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3099816"/>
            <a:ext cx="1847088" cy="24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1400" b="0" dirty="0">
                <a:solidFill>
                  <a:srgbClr val="14181C"/>
                </a:solidFill>
                <a:latin typeface="Arial"/>
              </a:rPr>
              <a:t>2 900</a:t>
            </a:r>
            <a:endParaRPr sz="1400" b="0" dirty="0">
              <a:solidFill>
                <a:srgbClr val="14181C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97296" y="3099816"/>
            <a:ext cx="1755648" cy="24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1400" b="1" dirty="0">
                <a:solidFill>
                  <a:srgbClr val="14181C"/>
                </a:solidFill>
                <a:latin typeface="Arial"/>
              </a:rPr>
              <a:t>2 900</a:t>
            </a:r>
            <a:endParaRPr sz="1400" b="1" dirty="0">
              <a:solidFill>
                <a:srgbClr val="14181C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2960" y="3456432"/>
            <a:ext cx="6766560" cy="493776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3593592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3593592"/>
            <a:ext cx="1847088" cy="24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1400" b="0" dirty="0">
                <a:solidFill>
                  <a:srgbClr val="14181C"/>
                </a:solidFill>
                <a:latin typeface="Arial"/>
              </a:rPr>
              <a:t>2 500</a:t>
            </a:r>
            <a:endParaRPr sz="1400" b="0" dirty="0">
              <a:solidFill>
                <a:srgbClr val="14181C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97296" y="3593592"/>
            <a:ext cx="1755648" cy="24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1400" b="1" dirty="0">
                <a:solidFill>
                  <a:srgbClr val="14181C"/>
                </a:solidFill>
                <a:latin typeface="Arial"/>
              </a:rPr>
              <a:t>12 500</a:t>
            </a:r>
            <a:endParaRPr sz="1400" b="1" dirty="0">
              <a:solidFill>
                <a:srgbClr val="14181C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42416" y="4087368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4087368"/>
            <a:ext cx="1847088" cy="24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1400" b="0" dirty="0">
                <a:solidFill>
                  <a:srgbClr val="14181C"/>
                </a:solidFill>
                <a:latin typeface="Arial"/>
              </a:rPr>
              <a:t>2 300</a:t>
            </a:r>
            <a:endParaRPr sz="1400" b="0" dirty="0">
              <a:solidFill>
                <a:srgbClr val="14181C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97296" y="4087368"/>
            <a:ext cx="1755648" cy="24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1400" b="1" dirty="0">
                <a:solidFill>
                  <a:srgbClr val="14181C"/>
                </a:solidFill>
                <a:latin typeface="Arial"/>
              </a:rPr>
              <a:t>23 000</a:t>
            </a:r>
            <a:endParaRPr sz="1400" b="1" dirty="0">
              <a:solidFill>
                <a:srgbClr val="14181C"/>
              </a:solidFill>
              <a:latin typeface="Arial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22960" y="4443984"/>
            <a:ext cx="6766560" cy="493776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42416" y="4581144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94176" y="4581144"/>
            <a:ext cx="1847088" cy="24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1400" b="0" dirty="0">
                <a:solidFill>
                  <a:srgbClr val="14181C"/>
                </a:solidFill>
                <a:latin typeface="Arial"/>
              </a:rPr>
              <a:t>2 100</a:t>
            </a:r>
            <a:endParaRPr sz="1400" b="0" dirty="0">
              <a:solidFill>
                <a:srgbClr val="14181C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97296" y="4581144"/>
            <a:ext cx="1755648" cy="24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1400" b="1" dirty="0">
                <a:solidFill>
                  <a:srgbClr val="14181C"/>
                </a:solidFill>
                <a:latin typeface="Arial"/>
              </a:rPr>
              <a:t>52 500</a:t>
            </a:r>
            <a:endParaRPr sz="1400" b="1" dirty="0">
              <a:solidFill>
                <a:srgbClr val="14181C"/>
              </a:solidFill>
              <a:latin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42416" y="5074920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94176" y="5074920"/>
            <a:ext cx="1847088" cy="24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1400" b="0" dirty="0">
                <a:solidFill>
                  <a:srgbClr val="14181C"/>
                </a:solidFill>
                <a:latin typeface="Arial"/>
              </a:rPr>
              <a:t>1 800</a:t>
            </a:r>
            <a:endParaRPr sz="1400" b="0" dirty="0">
              <a:solidFill>
                <a:srgbClr val="14181C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97296" y="5074920"/>
            <a:ext cx="1755648" cy="24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1400" b="1" dirty="0">
                <a:solidFill>
                  <a:srgbClr val="14181C"/>
                </a:solidFill>
                <a:latin typeface="Arial"/>
              </a:rPr>
              <a:t>90 000</a:t>
            </a:r>
            <a:endParaRPr sz="1400" b="1" dirty="0">
              <a:solidFill>
                <a:srgbClr val="14181C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22960" y="5431536"/>
            <a:ext cx="6766560" cy="493776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42416" y="5568696"/>
            <a:ext cx="239572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Без ограничения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94176" y="5568696"/>
            <a:ext cx="184708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4181C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97296" y="5568696"/>
            <a:ext cx="1755648" cy="24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ru-RU" sz="1400" b="1" dirty="0">
                <a:solidFill>
                  <a:srgbClr val="14181C"/>
                </a:solidFill>
                <a:latin typeface="Arial"/>
              </a:rPr>
              <a:t>180 000</a:t>
            </a:r>
            <a:endParaRPr sz="1400" b="1" dirty="0">
              <a:solidFill>
                <a:srgbClr val="14181C"/>
              </a:solidFill>
              <a:latin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22960" y="2468880"/>
            <a:ext cx="6766560" cy="3456432"/>
          </a:xfrm>
          <a:prstGeom prst="rect">
            <a:avLst/>
          </a:prstGeom>
          <a:noFill/>
          <a:ln w="15875">
            <a:solidFill>
              <a:srgbClr val="141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955279" y="2468880"/>
            <a:ext cx="3383280" cy="32004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19" y="2816352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spc="160">
                <a:solidFill>
                  <a:srgbClr val="FFFFFF"/>
                </a:solidFill>
                <a:latin typeface="Arial"/>
              </a:rPr>
              <a:t>В СТОИМОСТЬ ВХОДИТ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9" y="3505200"/>
            <a:ext cx="88900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22207" y="342900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Установка и настройка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3980688"/>
            <a:ext cx="88900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22207" y="3904488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Обучение персонала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19" y="4456176"/>
            <a:ext cx="88900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22207" y="4379976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Техническая поддержка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19" y="4931664"/>
            <a:ext cx="88900" cy="88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22207" y="4855464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FFFFFF"/>
                </a:solidFill>
                <a:latin typeface="Arial"/>
              </a:rPr>
              <a:t>Все обновления года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79" y="5870448"/>
            <a:ext cx="3383280" cy="777240"/>
          </a:xfrm>
          <a:prstGeom prst="rect">
            <a:avLst/>
          </a:prstGeom>
          <a:solidFill>
            <a:srgbClr val="EBE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75319" y="6071616"/>
            <a:ext cx="2743200" cy="22551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dirty="0" err="1">
                <a:solidFill>
                  <a:srgbClr val="0E3393"/>
                </a:solidFill>
                <a:latin typeface="Arial"/>
              </a:rPr>
              <a:t>До</a:t>
            </a:r>
            <a:r>
              <a:rPr sz="1300" b="1" dirty="0">
                <a:solidFill>
                  <a:srgbClr val="0E3393"/>
                </a:solidFill>
                <a:latin typeface="Arial"/>
              </a:rPr>
              <a:t> 01.</a:t>
            </a:r>
            <a:r>
              <a:rPr lang="ru-RU" sz="1300" b="1" dirty="0">
                <a:solidFill>
                  <a:srgbClr val="0E3393"/>
                </a:solidFill>
                <a:latin typeface="Arial"/>
              </a:rPr>
              <a:t>10</a:t>
            </a:r>
            <a:r>
              <a:rPr sz="1300" b="1" dirty="0">
                <a:solidFill>
                  <a:srgbClr val="0E3393"/>
                </a:solidFill>
                <a:latin typeface="Arial"/>
              </a:rPr>
              <a:t>.2026 — </a:t>
            </a:r>
            <a:r>
              <a:rPr sz="1300" b="1" dirty="0" err="1">
                <a:solidFill>
                  <a:srgbClr val="0E3393"/>
                </a:solidFill>
                <a:latin typeface="Arial"/>
              </a:rPr>
              <a:t>скидка</a:t>
            </a:r>
            <a:r>
              <a:rPr sz="1300" b="1" dirty="0">
                <a:solidFill>
                  <a:srgbClr val="0E3393"/>
                </a:solidFill>
                <a:latin typeface="Arial"/>
              </a:rPr>
              <a:t> 10 %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89788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06662"/>
                </a:solidFill>
                <a:latin typeface="Arial"/>
              </a:rPr>
              <a:t>Цены в рублях за год. Без НДС (п. 26 ч. 2 ст. 149 НК РФ). Лицензия корпоративная, срок — 1 год.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943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ЦЕНА ЗА ОДНО</a:t>
            </a:r>
          </a:p>
          <a:p>
            <a:pPr algn="l">
              <a:lnSpc>
                <a:spcPct val="102000"/>
              </a:lnSpc>
            </a:pPr>
            <a:r>
              <a:rPr sz="3400" b="1" spc="160">
                <a:solidFill>
                  <a:srgbClr val="14181C"/>
                </a:solidFill>
                <a:latin typeface="Arial"/>
              </a:rPr>
              <a:t>РАБОЧЕЕ МЕСТО В ГОД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291840"/>
            <a:ext cx="2103120" cy="1965960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816352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606662"/>
                </a:solidFill>
                <a:latin typeface="Arial"/>
              </a:rPr>
              <a:t>≈ 20 000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8581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4181C"/>
                </a:solidFill>
                <a:latin typeface="Arial"/>
              </a:rPr>
              <a:t>Adobe Acrobat Pro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73328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06662"/>
                </a:solidFill>
                <a:latin typeface="Arial"/>
              </a:rPr>
              <a:t>Подписка в валюте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93008" y="3340989"/>
            <a:ext cx="2103120" cy="1916811"/>
          </a:xfrm>
          <a:prstGeom prst="rect">
            <a:avLst/>
          </a:prstGeom>
          <a:solidFill>
            <a:srgbClr val="D3C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3008" y="2865501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>
                <a:solidFill>
                  <a:srgbClr val="606662"/>
                </a:solidFill>
                <a:latin typeface="Arial"/>
              </a:rPr>
              <a:t>≈ 19 500 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538581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4181C"/>
                </a:solidFill>
                <a:latin typeface="Arial"/>
              </a:rPr>
              <a:t>Foxit PDF Editor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573328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06662"/>
                </a:solidFill>
                <a:latin typeface="Arial"/>
              </a:rPr>
              <a:t>Лицензия через реселлера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4078224"/>
            <a:ext cx="2103120" cy="1179576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3056" y="3602736"/>
            <a:ext cx="2103120" cy="329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ru-RU" sz="1900" b="1" dirty="0">
                <a:solidFill>
                  <a:srgbClr val="1C5FD9"/>
                </a:solidFill>
                <a:latin typeface="Arial"/>
              </a:rPr>
              <a:t>2 900</a:t>
            </a:r>
            <a:r>
              <a:rPr sz="1900" b="1" dirty="0">
                <a:solidFill>
                  <a:srgbClr val="1C5FD9"/>
                </a:solidFill>
                <a:latin typeface="Arial"/>
              </a:rPr>
              <a:t>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538581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4181C"/>
                </a:solidFill>
                <a:latin typeface="Arial"/>
              </a:rPr>
              <a:t>ПВ-Система 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573328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06662"/>
                </a:solidFill>
                <a:latin typeface="Arial"/>
              </a:rPr>
              <a:t>Одно рабочее место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33104" y="4589374"/>
            <a:ext cx="2103120" cy="668426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33104" y="4113886"/>
            <a:ext cx="2103120" cy="3295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ru-RU" sz="1900" b="1" dirty="0">
                <a:solidFill>
                  <a:srgbClr val="1C5FD9"/>
                </a:solidFill>
                <a:latin typeface="Arial"/>
              </a:rPr>
              <a:t>1 8</a:t>
            </a:r>
            <a:r>
              <a:rPr sz="1900" b="1" dirty="0">
                <a:solidFill>
                  <a:srgbClr val="1C5FD9"/>
                </a:solidFill>
                <a:latin typeface="Arial"/>
              </a:rPr>
              <a:t>00 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3104" y="5385816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14181C"/>
                </a:solidFill>
                <a:latin typeface="Arial"/>
              </a:rPr>
              <a:t>ПВ-Система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5733288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>
                <a:solidFill>
                  <a:srgbClr val="606662"/>
                </a:solidFill>
                <a:latin typeface="Arial"/>
              </a:rPr>
              <a:t>При 50 рабочих местах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257800"/>
            <a:ext cx="10113264" cy="1905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38160" y="1051560"/>
            <a:ext cx="3200400" cy="169164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30768" y="1298448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spc="160">
                <a:solidFill>
                  <a:srgbClr val="9AD4E8"/>
                </a:solidFill>
                <a:latin typeface="Arial"/>
              </a:rPr>
              <a:t>ВЫГОДА ДО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8" y="1664208"/>
            <a:ext cx="26517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F7F5EF"/>
                </a:solidFill>
                <a:latin typeface="Arial"/>
              </a:rPr>
              <a:t>×3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2291225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dirty="0" err="1">
                <a:solidFill>
                  <a:srgbClr val="B6B3AC"/>
                </a:solidFill>
                <a:latin typeface="Arial"/>
              </a:rPr>
              <a:t>дешевле</a:t>
            </a:r>
            <a:r>
              <a:rPr sz="1200" b="0" dirty="0">
                <a:solidFill>
                  <a:srgbClr val="B6B3AC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B6B3AC"/>
                </a:solidFill>
                <a:latin typeface="Arial"/>
              </a:rPr>
              <a:t>при</a:t>
            </a:r>
            <a:r>
              <a:rPr sz="1200" b="0" dirty="0">
                <a:solidFill>
                  <a:srgbClr val="B6B3AC"/>
                </a:solidFill>
                <a:latin typeface="Arial"/>
              </a:rPr>
              <a:t> 50 </a:t>
            </a:r>
            <a:r>
              <a:rPr sz="1200" b="0" dirty="0" err="1">
                <a:solidFill>
                  <a:srgbClr val="B6B3AC"/>
                </a:solidFill>
                <a:latin typeface="Arial"/>
              </a:rPr>
              <a:t>местах</a:t>
            </a:r>
            <a:endParaRPr sz="1200" b="0" dirty="0">
              <a:solidFill>
                <a:srgbClr val="B6B3AC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5961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Цены зарубежных продуктов ориентировочные, по открытым данным. Подписки оплачиваются в валюте.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КАК НАЧАТЬ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 spc="160">
                <a:solidFill>
                  <a:srgbClr val="14181C"/>
                </a:solidFill>
                <a:latin typeface="Arial"/>
              </a:rPr>
              <a:t>ЧЕТЫРЕ ШАГА ДО</a:t>
            </a:r>
          </a:p>
          <a:p>
            <a:pPr algn="l">
              <a:lnSpc>
                <a:spcPct val="102000"/>
              </a:lnSpc>
            </a:pPr>
            <a:r>
              <a:rPr sz="3600" b="1" spc="160">
                <a:solidFill>
                  <a:srgbClr val="14181C"/>
                </a:solidFill>
                <a:latin typeface="Arial"/>
              </a:rPr>
              <a:t>РАБОЧИХ МЕСТ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06040"/>
            <a:ext cx="2194560" cy="381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C9C5B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67912"/>
            <a:ext cx="242316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40690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spc="160">
                <a:solidFill>
                  <a:srgbClr val="14181C"/>
                </a:solidFill>
                <a:latin typeface="Arial"/>
              </a:rPr>
              <a:t>ЗАЯВКА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06662"/>
                </a:solidFill>
                <a:latin typeface="Arial"/>
              </a:rPr>
              <a:t>Обсуждаем количество мест и получаете демоверсию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31546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C9C5BC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30168" y="3867912"/>
            <a:ext cx="242316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0168" y="40690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spc="160">
                <a:solidFill>
                  <a:srgbClr val="14181C"/>
                </a:solidFill>
                <a:latin typeface="Arial"/>
              </a:rPr>
              <a:t>ДОГОВОР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45262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06662"/>
                </a:solidFill>
                <a:latin typeface="Arial"/>
              </a:rPr>
              <a:t>Подписываем и выставляем счёт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31546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C9C5BC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37376" y="3867912"/>
            <a:ext cx="242316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40690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spc="160">
                <a:solidFill>
                  <a:srgbClr val="14181C"/>
                </a:solidFill>
                <a:latin typeface="Arial"/>
              </a:rPr>
              <a:t>ПЕРЕДАЧА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45262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06662"/>
                </a:solidFill>
                <a:latin typeface="Arial"/>
              </a:rPr>
              <a:t>Ключ активации — 3 рабочих дня после оплаты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4584" y="31546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C9C5BC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3867912"/>
            <a:ext cx="2423160" cy="254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44584" y="40690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spc="160">
                <a:solidFill>
                  <a:srgbClr val="14181C"/>
                </a:solidFill>
                <a:latin typeface="Arial"/>
              </a:rPr>
              <a:t>ЗАПУСК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452628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606662"/>
                </a:solidFill>
                <a:latin typeface="Arial"/>
              </a:rPr>
              <a:t>Установка, настройка и обучение сотрудников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9107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spc="160">
                <a:solidFill>
                  <a:srgbClr val="606662"/>
                </a:solidFill>
                <a:latin typeface="Arial"/>
              </a:rPr>
              <a:t>ПВ-СИСТЕМА PDF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29107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>
                <a:solidFill>
                  <a:srgbClr val="60666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31000"/>
            <a:ext cx="12191695" cy="1270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9AD4E8"/>
                </a:solidFill>
                <a:latin typeface="Arial"/>
              </a:rPr>
              <a:t>КОНТАКТЫ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spc="160">
                <a:solidFill>
                  <a:srgbClr val="F7F5EF"/>
                </a:solidFill>
                <a:latin typeface="Arial"/>
              </a:rPr>
              <a:t>ЗАПРОСИТЕ</a:t>
            </a:r>
          </a:p>
          <a:p>
            <a:pPr algn="l">
              <a:lnSpc>
                <a:spcPct val="105000"/>
              </a:lnSpc>
            </a:pPr>
            <a:r>
              <a:rPr sz="5200" b="1" spc="160">
                <a:solidFill>
                  <a:srgbClr val="F7F5EF"/>
                </a:solidFill>
                <a:latin typeface="Arial"/>
              </a:rPr>
              <a:t>ДЕМОВЕРСИЮ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2194560" cy="50800"/>
          </a:xfrm>
          <a:prstGeom prst="rect">
            <a:avLst/>
          </a:prstGeom>
          <a:solidFill>
            <a:srgbClr val="1C5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ТЕЛЕФОН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89119"/>
            <a:ext cx="3474720" cy="3122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dirty="0">
                <a:solidFill>
                  <a:srgbClr val="F7F5EF"/>
                </a:solidFill>
                <a:latin typeface="Arial"/>
              </a:rPr>
              <a:t>+7 (933) 044-70-17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3977639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ЭЛЕКТРОННАЯ ПОЧТА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4389119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7F5EF"/>
                </a:solidFill>
                <a:latin typeface="Arial"/>
              </a:rPr>
              <a:t>pvsistema@mail.ru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4464" y="3977639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spc="160">
                <a:solidFill>
                  <a:srgbClr val="606662"/>
                </a:solidFill>
                <a:latin typeface="Arial"/>
              </a:rPr>
              <a:t>САЙТ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4389119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7F5EF"/>
                </a:solidFill>
                <a:latin typeface="Arial"/>
              </a:rPr>
              <a:t>пвсистема.рф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058400" cy="208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dirty="0">
                <a:solidFill>
                  <a:srgbClr val="606662"/>
                </a:solidFill>
                <a:latin typeface="Arial"/>
              </a:rPr>
              <a:t>г. </a:t>
            </a:r>
            <a:r>
              <a:rPr sz="1200" b="0" dirty="0" err="1">
                <a:solidFill>
                  <a:srgbClr val="606662"/>
                </a:solidFill>
                <a:latin typeface="Arial"/>
              </a:rPr>
              <a:t>Сибай</a:t>
            </a:r>
            <a:r>
              <a:rPr sz="1200" b="0" dirty="0">
                <a:solidFill>
                  <a:srgbClr val="606662"/>
                </a:solidFill>
                <a:latin typeface="Arial"/>
              </a:rPr>
              <a:t>, </a:t>
            </a:r>
            <a:r>
              <a:rPr sz="1200" b="0" dirty="0" err="1">
                <a:solidFill>
                  <a:srgbClr val="606662"/>
                </a:solidFill>
                <a:latin typeface="Arial"/>
              </a:rPr>
              <a:t>ул</a:t>
            </a:r>
            <a:r>
              <a:rPr sz="1200" b="0" dirty="0">
                <a:solidFill>
                  <a:srgbClr val="606662"/>
                </a:solidFill>
                <a:latin typeface="Arial"/>
              </a:rPr>
              <a:t>. </a:t>
            </a:r>
            <a:r>
              <a:rPr sz="1200" b="0" dirty="0" err="1">
                <a:solidFill>
                  <a:srgbClr val="606662"/>
                </a:solidFill>
                <a:latin typeface="Arial"/>
              </a:rPr>
              <a:t>Куйбышева</a:t>
            </a:r>
            <a:r>
              <a:rPr sz="1200" b="0" dirty="0">
                <a:solidFill>
                  <a:srgbClr val="606662"/>
                </a:solidFill>
                <a:latin typeface="Arial"/>
              </a:rPr>
              <a:t>, д. 20</a:t>
            </a:r>
            <a:r>
              <a:rPr lang="ru-RU" sz="1200" dirty="0">
                <a:solidFill>
                  <a:srgbClr val="606662"/>
                </a:solidFill>
                <a:latin typeface="Arial"/>
              </a:rPr>
              <a:t>.</a:t>
            </a:r>
            <a:endParaRPr sz="1200" b="0" dirty="0">
              <a:solidFill>
                <a:srgbClr val="606662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701</Words>
  <Application>Microsoft Office PowerPoint</Application>
  <PresentationFormat>Широкоэкранный</PresentationFormat>
  <Paragraphs>207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Samolet</cp:lastModifiedBy>
  <cp:revision>3</cp:revision>
  <dcterms:created xsi:type="dcterms:W3CDTF">2013-01-27T09:14:16Z</dcterms:created>
  <dcterms:modified xsi:type="dcterms:W3CDTF">2026-09-07T13:35:11Z</dcterms:modified>
  <cp:category/>
</cp:coreProperties>
</file>